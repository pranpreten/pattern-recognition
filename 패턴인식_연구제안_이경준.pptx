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1" r:id="rId3"/>
    <p:sldId id="268" r:id="rId4"/>
    <p:sldId id="27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2F9"/>
    <a:srgbClr val="DBE9F5"/>
    <a:srgbClr val="B7CFEB"/>
    <a:srgbClr val="ABC7D7"/>
    <a:srgbClr val="DFDFDF"/>
    <a:srgbClr val="002FC1"/>
    <a:srgbClr val="DADFF2"/>
    <a:srgbClr val="3975C0"/>
    <a:srgbClr val="D2A5EA"/>
    <a:srgbClr val="26262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63" d="100"/>
          <a:sy n="163" d="100"/>
        </p:scale>
        <p:origin x="1740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09D7B5-541E-7EA4-2431-8F78BE04BA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3CA37B-C57C-098A-32EB-B2AFE1A28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2C6C70-62B1-7B5C-EBE7-FE4A7230F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A746-2308-4D9D-AAD0-07174381C9E7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5359D5-8CDC-CD84-065C-5658FDD79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DFC78A-403C-04FF-6E6F-FAD93BF31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885F-BBA5-4FEF-9723-E4BF6E51B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812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E4031E-E641-C4CA-21C9-7A1FE93EB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C8EEE0-ED24-4DA2-9A98-817AA59C5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48F566-AE9A-C6E1-99C3-3EA692C8E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A746-2308-4D9D-AAD0-07174381C9E7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C6F62E-2FBF-A364-D9CE-D70B60E25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16CE53-F12D-0023-C90C-249606728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885F-BBA5-4FEF-9723-E4BF6E51B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793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8DFEBF-AE13-21C4-B417-53C1912EC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C383D3-0DFC-3B16-AFD9-ED826B49D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77E0C2-CA57-1569-4BB6-794AAE9FF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A746-2308-4D9D-AAD0-07174381C9E7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E2A88B-A6E2-FDD7-A876-FA2C7A1F1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6CE3D9-A372-3E1C-8318-FD5849D3B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885F-BBA5-4FEF-9723-E4BF6E51B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182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39459B-2F0C-11DA-17C7-CBC92F494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06E463-C691-C8B8-DA0F-39DE939C20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11B277-F030-EC73-A034-0956AEA09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4020CB-4B74-3F91-6FE7-D42743DB1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A746-2308-4D9D-AAD0-07174381C9E7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1C1C04-4D83-5A6B-660D-8D17C2593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63E102-AD39-A790-E46E-8FEDD3B18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885F-BBA5-4FEF-9723-E4BF6E51B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685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19BC4F-AA18-765C-C0AE-9C7CE9923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C3D5F2-0493-000D-ACB2-EDC390AFE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94222C-B029-A967-3A86-E3E4D143B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530AE79-EA7B-3764-44E0-9C801DD5B8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F7B8E2F-2266-F42F-38F4-B46D694EAE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01D2AC2-7CDC-D245-4827-8322C676E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A746-2308-4D9D-AAD0-07174381C9E7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415EC7F-0464-AD0F-5B19-BDB80CAB0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01FC341-77CF-4D3F-158F-B91AD7C23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885F-BBA5-4FEF-9723-E4BF6E51B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508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C3CCDD-41F2-E828-F535-1D1310E35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5E5F0E-72FB-E641-00D1-527A9C807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A746-2308-4D9D-AAD0-07174381C9E7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450683-88B0-DFCB-D629-227A8F94F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D01974-FB93-1F53-CDAF-AC0793B7B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885F-BBA5-4FEF-9723-E4BF6E51B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2311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00000D-6716-6256-E191-88D9D9821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A746-2308-4D9D-AAD0-07174381C9E7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B4427CA-89C4-2B0E-67D9-1252E13F9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0A4040-0CE3-0F32-4BE3-66DA0872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885F-BBA5-4FEF-9723-E4BF6E51B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90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4DF4E8-8A73-E2C8-978F-20062B952DBA}"/>
              </a:ext>
            </a:extLst>
          </p:cNvPr>
          <p:cNvSpPr txBox="1"/>
          <p:nvPr userDrawn="1"/>
        </p:nvSpPr>
        <p:spPr>
          <a:xfrm>
            <a:off x="9987228" y="6586181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00000D-6716-6256-E191-88D9D9821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A746-2308-4D9D-AAD0-07174381C9E7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B4427CA-89C4-2B0E-67D9-1252E13F9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0A4040-0CE3-0F32-4BE3-66DA0872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885F-BBA5-4FEF-9723-E4BF6E51B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998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1D86FC-F761-4A6A-6C20-1CB915ABF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EE8658-6920-3C9E-00A3-3ACE837CF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4B2EBC1-E24A-EFAA-E134-3525E75727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85FD1A-10F7-C603-E8EE-691FA5CCA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A746-2308-4D9D-AAD0-07174381C9E7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B3F40D-1E03-9A02-A3CA-38E2D8F38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28D190-5C5B-BC4B-9CCA-FE839D35E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885F-BBA5-4FEF-9723-E4BF6E51B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75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6FB79-9392-6620-A1A7-5C9257509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0056621-A6ED-CE76-E36C-21B0BF8C8E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40BDA1-F941-F919-DF16-114F90736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2FD7F-4A8F-8583-CDF1-458E30720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A746-2308-4D9D-AAD0-07174381C9E7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E341BB-A4D1-E575-081E-C0DBBF451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14BDB8-8D99-582A-259E-83FFD8BBD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885F-BBA5-4FEF-9723-E4BF6E51B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7762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F709F-0FD5-4D19-F5E1-17AF533AD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BA15A8-A6E8-4AC9-BAB4-B22535C69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A33A22-96FB-212B-BBE7-8267D70C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A746-2308-4D9D-AAD0-07174381C9E7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DC0052-27D3-7155-AD41-80B272AF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C09F5A-D05F-F996-192E-E9C5AE415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885F-BBA5-4FEF-9723-E4BF6E51B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772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A71C72-D2CC-EF51-F0BF-5B912D63C7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FD075A-535D-8797-9AAA-9EC250411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4691C4-D111-0993-1412-8842E9FA8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A746-2308-4D9D-AAD0-07174381C9E7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039303-D678-E2D3-F493-D7602E436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E01475-F44F-AEC7-9C73-2DC7A6B51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885F-BBA5-4FEF-9723-E4BF6E51B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442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1AD6FF6-A1B0-1E23-9753-E1348B469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11A424-84CF-9C90-DD87-9705BCD0E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D9DDE-7AC9-BDBE-F57B-7130F5A2FF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7A746-2308-4D9D-AAD0-07174381C9E7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148121-D864-08AB-BAD3-63D9A030C6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A563BA-8FB1-C9EA-A62E-56F70D261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6F885F-BBA5-4FEF-9723-E4BF6E51B8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473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9227FE4-AE00-93CC-06BC-F3036DCD060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DB185A-389C-1354-77FB-40F054D49CA0}"/>
              </a:ext>
            </a:extLst>
          </p:cNvPr>
          <p:cNvSpPr txBox="1"/>
          <p:nvPr/>
        </p:nvSpPr>
        <p:spPr>
          <a:xfrm>
            <a:off x="1044796" y="2028616"/>
            <a:ext cx="101024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dirty="0">
                <a:solidFill>
                  <a:schemeClr val="bg1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메타데이터 기반 흉부 </a:t>
            </a:r>
            <a:r>
              <a:rPr lang="en-US" altLang="ko-KR" sz="3600" dirty="0">
                <a:solidFill>
                  <a:schemeClr val="bg1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X-ray </a:t>
            </a:r>
            <a:r>
              <a:rPr lang="ko-KR" altLang="en-US" sz="3600" dirty="0">
                <a:solidFill>
                  <a:schemeClr val="bg1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이상탐지 모델 개발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FBE0A6-A618-3E78-FD7D-E3F7433F3C46}"/>
              </a:ext>
            </a:extLst>
          </p:cNvPr>
          <p:cNvSpPr txBox="1"/>
          <p:nvPr/>
        </p:nvSpPr>
        <p:spPr>
          <a:xfrm>
            <a:off x="10285388" y="6586181"/>
            <a:ext cx="18966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충북대학교 인공지능학과 </a:t>
            </a:r>
            <a:r>
              <a:rPr lang="ko-KR" altLang="en-US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이경준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923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3500F26-0B1F-DA81-6D81-50B67A9C49F7}"/>
              </a:ext>
            </a:extLst>
          </p:cNvPr>
          <p:cNvSpPr/>
          <p:nvPr/>
        </p:nvSpPr>
        <p:spPr>
          <a:xfrm>
            <a:off x="0" y="0"/>
            <a:ext cx="724829" cy="7631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3148C9-4855-880B-4823-30B169977BD4}"/>
              </a:ext>
            </a:extLst>
          </p:cNvPr>
          <p:cNvSpPr txBox="1"/>
          <p:nvPr/>
        </p:nvSpPr>
        <p:spPr>
          <a:xfrm>
            <a:off x="802888" y="78059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</a:rPr>
              <a:t>Part 1</a:t>
            </a:r>
            <a:endParaRPr lang="ko-KR" alt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7E69F6-CA24-9568-55E2-01ED1939BF34}"/>
              </a:ext>
            </a:extLst>
          </p:cNvPr>
          <p:cNvSpPr txBox="1"/>
          <p:nvPr/>
        </p:nvSpPr>
        <p:spPr>
          <a:xfrm>
            <a:off x="802888" y="363082"/>
            <a:ext cx="3071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spc="600" dirty="0">
                <a:solidFill>
                  <a:schemeClr val="bg2">
                    <a:lumMod val="25000"/>
                  </a:schemeClr>
                </a:solidFill>
              </a:rPr>
              <a:t>연구 배경 및 목적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A6A489A-7707-7FE4-DD28-534802C37C88}"/>
              </a:ext>
            </a:extLst>
          </p:cNvPr>
          <p:cNvSpPr/>
          <p:nvPr/>
        </p:nvSpPr>
        <p:spPr>
          <a:xfrm>
            <a:off x="6253007" y="428057"/>
            <a:ext cx="5534812" cy="26082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1752612-F340-3025-3657-615406F480D0}"/>
              </a:ext>
            </a:extLst>
          </p:cNvPr>
          <p:cNvSpPr/>
          <p:nvPr/>
        </p:nvSpPr>
        <p:spPr>
          <a:xfrm>
            <a:off x="6269600" y="3405652"/>
            <a:ext cx="5534812" cy="27958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942332A-01F6-4D3F-C37D-9687673580A5}"/>
              </a:ext>
            </a:extLst>
          </p:cNvPr>
          <p:cNvSpPr/>
          <p:nvPr/>
        </p:nvSpPr>
        <p:spPr>
          <a:xfrm>
            <a:off x="6253005" y="428057"/>
            <a:ext cx="1003659" cy="26082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3548C88-077C-A794-6AC8-097695B154B2}"/>
              </a:ext>
            </a:extLst>
          </p:cNvPr>
          <p:cNvSpPr/>
          <p:nvPr/>
        </p:nvSpPr>
        <p:spPr>
          <a:xfrm>
            <a:off x="6253005" y="3405652"/>
            <a:ext cx="1003659" cy="27958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BA3D45-2BC2-DD46-76B5-845A096A4DAB}"/>
              </a:ext>
            </a:extLst>
          </p:cNvPr>
          <p:cNvSpPr txBox="1"/>
          <p:nvPr/>
        </p:nvSpPr>
        <p:spPr>
          <a:xfrm>
            <a:off x="6372879" y="1532110"/>
            <a:ext cx="7821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</a:rPr>
              <a:t>배경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A9F9AC-09F5-7187-6178-256C65D2685C}"/>
              </a:ext>
            </a:extLst>
          </p:cNvPr>
          <p:cNvSpPr txBox="1"/>
          <p:nvPr/>
        </p:nvSpPr>
        <p:spPr>
          <a:xfrm>
            <a:off x="7380018" y="881742"/>
            <a:ext cx="437263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흉부 </a:t>
            </a:r>
            <a:r>
              <a:rPr lang="en-US" altLang="ko-KR" sz="1600" dirty="0"/>
              <a:t>X-ray</a:t>
            </a:r>
            <a:r>
              <a:rPr lang="ko-KR" altLang="en-US" sz="1600" dirty="0"/>
              <a:t>는 가장 널리 사용되는 의료 영상이지만 촬영 자세</a:t>
            </a:r>
            <a:r>
              <a:rPr lang="en-US" altLang="ko-KR" sz="1600" dirty="0"/>
              <a:t>(AP/PA/Lateral), </a:t>
            </a:r>
            <a:r>
              <a:rPr lang="ko-KR" altLang="en-US" sz="1600" dirty="0"/>
              <a:t>환자 나이</a:t>
            </a:r>
            <a:r>
              <a:rPr lang="en-US" altLang="ko-KR" sz="1600" dirty="0"/>
              <a:t>, </a:t>
            </a:r>
            <a:r>
              <a:rPr lang="ko-KR" altLang="en-US" sz="1600" dirty="0"/>
              <a:t>성별 등에 따라 영상 패턴이 크게 달라짐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기존 이상탐지 모델은 이미지 정보만 사용하여 촬영 조건</a:t>
            </a:r>
            <a:r>
              <a:rPr lang="en-US" altLang="ko-KR" sz="1600" dirty="0"/>
              <a:t>/</a:t>
            </a:r>
            <a:r>
              <a:rPr lang="ko-KR" altLang="en-US" sz="1600" dirty="0"/>
              <a:t>인구학적 특성으로 인한 패턴 차이를 병변으로 오인하는 문제가 있음</a:t>
            </a:r>
            <a:endParaRPr lang="ko-KR" altLang="en-US" sz="16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B5CCC3-4D98-93CB-41F0-5BC40E14AEE9}"/>
              </a:ext>
            </a:extLst>
          </p:cNvPr>
          <p:cNvSpPr txBox="1"/>
          <p:nvPr/>
        </p:nvSpPr>
        <p:spPr>
          <a:xfrm>
            <a:off x="7415187" y="3574792"/>
            <a:ext cx="421671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이미지 특징 </a:t>
            </a:r>
            <a:r>
              <a:rPr lang="en-US" altLang="ko-KR" sz="1600" dirty="0"/>
              <a:t>+ </a:t>
            </a:r>
            <a:r>
              <a:rPr lang="ko-KR" altLang="en-US" sz="1600" dirty="0"/>
              <a:t>환자 메타데이터를 통합한</a:t>
            </a:r>
            <a:br>
              <a:rPr lang="ko-KR" altLang="en-US" sz="1600" dirty="0"/>
            </a:br>
            <a:r>
              <a:rPr lang="en-US" altLang="ko-KR" sz="1600" dirty="0"/>
              <a:t>Metadata Conditioning </a:t>
            </a:r>
            <a:r>
              <a:rPr lang="ko-KR" altLang="en-US" sz="1600" dirty="0"/>
              <a:t>기반 이상탐지 모델 개발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Anomalib</a:t>
            </a:r>
            <a:r>
              <a:rPr lang="en-US" altLang="ko-KR" sz="1600" dirty="0"/>
              <a:t> </a:t>
            </a:r>
            <a:r>
              <a:rPr lang="ko-KR" altLang="en-US" sz="1600" dirty="0"/>
              <a:t>프레임워크를 활용하여</a:t>
            </a:r>
            <a:r>
              <a:rPr lang="en-US" altLang="ko-KR" sz="1600" dirty="0" err="1"/>
              <a:t>PatchCore</a:t>
            </a:r>
            <a:r>
              <a:rPr lang="en-US" altLang="ko-KR" sz="1600" dirty="0"/>
              <a:t>/PaDiM </a:t>
            </a:r>
            <a:r>
              <a:rPr lang="ko-KR" altLang="en-US" sz="1600" dirty="0"/>
              <a:t>등 최신 이상탐지 기법 적용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PA/AP </a:t>
            </a:r>
            <a:r>
              <a:rPr lang="ko-KR" altLang="en-US" sz="1600" dirty="0"/>
              <a:t>촬영 차이</a:t>
            </a:r>
            <a:r>
              <a:rPr lang="en-US" altLang="ko-KR" sz="1600" dirty="0"/>
              <a:t>, </a:t>
            </a:r>
            <a:r>
              <a:rPr lang="ko-KR" altLang="en-US" sz="1600" dirty="0"/>
              <a:t>나이 및 성별로 인한 영상 차이를 반영해</a:t>
            </a:r>
            <a:br>
              <a:rPr lang="ko-KR" altLang="en-US" sz="1600" dirty="0"/>
            </a:br>
            <a:r>
              <a:rPr lang="ko-KR" altLang="en-US" sz="1600" dirty="0"/>
              <a:t>보다 정확하고 안정적인 </a:t>
            </a:r>
            <a:r>
              <a:rPr lang="en-US" altLang="ko-KR" sz="1600" dirty="0"/>
              <a:t>X-ray </a:t>
            </a:r>
            <a:r>
              <a:rPr lang="ko-KR" altLang="en-US" sz="1600" dirty="0"/>
              <a:t>이상탐지 모델 구축</a:t>
            </a:r>
            <a:endParaRPr lang="ko-KR" altLang="en-US" sz="16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2EAFB303-C0F3-1919-9CA6-7EF35A804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40" y="1861667"/>
            <a:ext cx="5293270" cy="410228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8F6DE08-601E-374E-7581-83D7AAA0A04C}"/>
              </a:ext>
            </a:extLst>
          </p:cNvPr>
          <p:cNvSpPr txBox="1"/>
          <p:nvPr/>
        </p:nvSpPr>
        <p:spPr>
          <a:xfrm>
            <a:off x="6363751" y="4603524"/>
            <a:ext cx="7821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</a:rPr>
              <a:t>목적</a:t>
            </a:r>
          </a:p>
        </p:txBody>
      </p:sp>
    </p:spTree>
    <p:extLst>
      <p:ext uri="{BB962C8B-B14F-4D97-AF65-F5344CB8AC3E}">
        <p14:creationId xmlns:p14="http://schemas.microsoft.com/office/powerpoint/2010/main" val="290352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3148C9-4855-880B-4823-30B169977BD4}"/>
              </a:ext>
            </a:extLst>
          </p:cNvPr>
          <p:cNvSpPr txBox="1"/>
          <p:nvPr/>
        </p:nvSpPr>
        <p:spPr>
          <a:xfrm>
            <a:off x="802888" y="78059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</a:rPr>
              <a:t>Part 2</a:t>
            </a:r>
            <a:endParaRPr lang="ko-KR" alt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7E69F6-CA24-9568-55E2-01ED1939BF34}"/>
              </a:ext>
            </a:extLst>
          </p:cNvPr>
          <p:cNvSpPr txBox="1"/>
          <p:nvPr/>
        </p:nvSpPr>
        <p:spPr>
          <a:xfrm>
            <a:off x="802888" y="363082"/>
            <a:ext cx="3077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spc="600" dirty="0">
                <a:solidFill>
                  <a:schemeClr val="bg2">
                    <a:lumMod val="25000"/>
                  </a:schemeClr>
                </a:solidFill>
              </a:rPr>
              <a:t>데이터셋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90E98C2-F9B2-CA2B-48AF-B793FF4643C7}"/>
              </a:ext>
            </a:extLst>
          </p:cNvPr>
          <p:cNvSpPr/>
          <p:nvPr/>
        </p:nvSpPr>
        <p:spPr>
          <a:xfrm>
            <a:off x="0" y="0"/>
            <a:ext cx="724829" cy="7631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E306420-5103-537A-7056-B238FE4F8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58" y="4269493"/>
            <a:ext cx="4408020" cy="196024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F969ABE-8882-C37C-F3D3-628B18C4D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999" y="954431"/>
            <a:ext cx="4485078" cy="3119584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C880C6A-8B98-C320-61E5-697E49AF4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435126"/>
              </p:ext>
            </p:extLst>
          </p:nvPr>
        </p:nvGraphicFramePr>
        <p:xfrm>
          <a:off x="5726723" y="954431"/>
          <a:ext cx="5949462" cy="5275301"/>
        </p:xfrm>
        <a:graphic>
          <a:graphicData uri="http://schemas.openxmlformats.org/drawingml/2006/table">
            <a:tbl>
              <a:tblPr/>
              <a:tblGrid>
                <a:gridCol w="2974731">
                  <a:extLst>
                    <a:ext uri="{9D8B030D-6E8A-4147-A177-3AD203B41FA5}">
                      <a16:colId xmlns:a16="http://schemas.microsoft.com/office/drawing/2014/main" val="3846905692"/>
                    </a:ext>
                  </a:extLst>
                </a:gridCol>
                <a:gridCol w="2974731">
                  <a:extLst>
                    <a:ext uri="{9D8B030D-6E8A-4147-A177-3AD203B41FA5}">
                      <a16:colId xmlns:a16="http://schemas.microsoft.com/office/drawing/2014/main" val="1540825619"/>
                    </a:ext>
                  </a:extLst>
                </a:gridCol>
              </a:tblGrid>
              <a:tr h="5312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항목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내용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244471"/>
                  </a:ext>
                </a:extLst>
              </a:tr>
              <a:tr h="5312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사용 데이터셋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NIH Chest X-ray 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240794"/>
                  </a:ext>
                </a:extLst>
              </a:tr>
              <a:tr h="76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데이터 수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112,120</a:t>
                      </a:r>
                      <a:r>
                        <a:rPr lang="ko-KR" altLang="en-US"/>
                        <a:t>장 </a:t>
                      </a:r>
                      <a:r>
                        <a:rPr lang="en-US" altLang="ko-KR"/>
                        <a:t>(30,805</a:t>
                      </a:r>
                      <a:r>
                        <a:rPr lang="ko-KR" altLang="en-US"/>
                        <a:t>명 환자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942718"/>
                  </a:ext>
                </a:extLst>
              </a:tr>
              <a:tr h="5312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이미지 형식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흉부 </a:t>
                      </a:r>
                      <a:r>
                        <a:rPr lang="en-US" dirty="0"/>
                        <a:t>X-ray (PNG)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185732"/>
                  </a:ext>
                </a:extLst>
              </a:tr>
              <a:tr h="929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라벨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No Finding </a:t>
                      </a:r>
                      <a:r>
                        <a:rPr lang="ko-KR" altLang="en-US" dirty="0"/>
                        <a:t>포함 </a:t>
                      </a:r>
                      <a:r>
                        <a:rPr lang="en-US" altLang="ko-KR" dirty="0"/>
                        <a:t>14</a:t>
                      </a:r>
                      <a:r>
                        <a:rPr lang="ko-KR" altLang="en-US" dirty="0"/>
                        <a:t>개 질병 멀티라벨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804061"/>
                  </a:ext>
                </a:extLst>
              </a:tr>
              <a:tr h="929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사용 메타데이터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Patient Age / Patient Gender / View Position (PA/AP)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547341"/>
                  </a:ext>
                </a:extLst>
              </a:tr>
              <a:tr h="5312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정상 이미지 개수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51,759</a:t>
                      </a:r>
                      <a:r>
                        <a:rPr lang="ko-KR" altLang="en-US" dirty="0"/>
                        <a:t>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187587"/>
                  </a:ext>
                </a:extLst>
              </a:tr>
              <a:tr h="5312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비정상 이미지 개수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60,361</a:t>
                      </a:r>
                      <a:r>
                        <a:rPr lang="ko-KR" altLang="en-US" dirty="0"/>
                        <a:t>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0021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4126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3148C9-4855-880B-4823-30B169977BD4}"/>
              </a:ext>
            </a:extLst>
          </p:cNvPr>
          <p:cNvSpPr txBox="1"/>
          <p:nvPr/>
        </p:nvSpPr>
        <p:spPr>
          <a:xfrm>
            <a:off x="802888" y="78059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</a:rPr>
              <a:t>Part 3</a:t>
            </a:r>
            <a:endParaRPr lang="ko-KR" alt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7E69F6-CA24-9568-55E2-01ED1939BF34}"/>
              </a:ext>
            </a:extLst>
          </p:cNvPr>
          <p:cNvSpPr txBox="1"/>
          <p:nvPr/>
        </p:nvSpPr>
        <p:spPr>
          <a:xfrm>
            <a:off x="802888" y="363082"/>
            <a:ext cx="3868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spc="600">
                <a:solidFill>
                  <a:schemeClr val="bg2">
                    <a:lumMod val="25000"/>
                  </a:schemeClr>
                </a:solidFill>
              </a:rPr>
              <a:t>구현 </a:t>
            </a:r>
            <a:r>
              <a:rPr lang="ko-KR" altLang="en-US" sz="2000" spc="600" dirty="0" err="1">
                <a:solidFill>
                  <a:schemeClr val="bg2">
                    <a:lumMod val="25000"/>
                  </a:schemeClr>
                </a:solidFill>
              </a:rPr>
              <a:t>방법및</a:t>
            </a:r>
            <a:r>
              <a:rPr lang="en-US" altLang="ko-KR" sz="2000" spc="6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ko-KR" altLang="en-US" sz="2000" spc="600" dirty="0">
                <a:solidFill>
                  <a:schemeClr val="bg2">
                    <a:lumMod val="25000"/>
                  </a:schemeClr>
                </a:solidFill>
              </a:rPr>
              <a:t>적용 모델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BD078B2-DE60-AE25-E437-086B38BE63E2}"/>
              </a:ext>
            </a:extLst>
          </p:cNvPr>
          <p:cNvSpPr/>
          <p:nvPr/>
        </p:nvSpPr>
        <p:spPr>
          <a:xfrm>
            <a:off x="875130" y="2807380"/>
            <a:ext cx="4001751" cy="281919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075BBF6-9938-E110-4806-FF72C40BF991}"/>
              </a:ext>
            </a:extLst>
          </p:cNvPr>
          <p:cNvSpPr/>
          <p:nvPr/>
        </p:nvSpPr>
        <p:spPr>
          <a:xfrm>
            <a:off x="875130" y="923012"/>
            <a:ext cx="4001751" cy="7193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9602EB-6912-4890-24BF-C58C448B8D88}"/>
              </a:ext>
            </a:extLst>
          </p:cNvPr>
          <p:cNvSpPr/>
          <p:nvPr/>
        </p:nvSpPr>
        <p:spPr>
          <a:xfrm>
            <a:off x="875130" y="1834804"/>
            <a:ext cx="4001751" cy="7193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F923BD0-EBA5-7879-BD34-16C104B000B2}"/>
              </a:ext>
            </a:extLst>
          </p:cNvPr>
          <p:cNvSpPr/>
          <p:nvPr/>
        </p:nvSpPr>
        <p:spPr>
          <a:xfrm>
            <a:off x="875130" y="5848868"/>
            <a:ext cx="4001751" cy="719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211896A-36BC-49FA-70CF-C4934B770044}"/>
              </a:ext>
            </a:extLst>
          </p:cNvPr>
          <p:cNvSpPr/>
          <p:nvPr/>
        </p:nvSpPr>
        <p:spPr>
          <a:xfrm>
            <a:off x="1227182" y="3075739"/>
            <a:ext cx="3297645" cy="592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338B2EB-BC67-89A3-DB8D-694EFD8E5D13}"/>
              </a:ext>
            </a:extLst>
          </p:cNvPr>
          <p:cNvSpPr/>
          <p:nvPr/>
        </p:nvSpPr>
        <p:spPr>
          <a:xfrm>
            <a:off x="1227182" y="3957138"/>
            <a:ext cx="3297645" cy="592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29B30D2-6EBE-E9FA-45CF-591490564D4E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2876006" y="1642314"/>
            <a:ext cx="0" cy="19249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9A3B21C-9846-C769-693A-438D44EA946A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2876006" y="2554106"/>
            <a:ext cx="0" cy="253275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D421CF9-08B3-7353-752A-C0D0E721E325}"/>
              </a:ext>
            </a:extLst>
          </p:cNvPr>
          <p:cNvCxnSpPr>
            <a:cxnSpLocks/>
          </p:cNvCxnSpPr>
          <p:nvPr/>
        </p:nvCxnSpPr>
        <p:spPr>
          <a:xfrm>
            <a:off x="2876006" y="5641475"/>
            <a:ext cx="0" cy="19249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8C43A1B-F979-7780-ACE4-F4C4420225C9}"/>
              </a:ext>
            </a:extLst>
          </p:cNvPr>
          <p:cNvSpPr txBox="1"/>
          <p:nvPr/>
        </p:nvSpPr>
        <p:spPr>
          <a:xfrm>
            <a:off x="1343085" y="1097997"/>
            <a:ext cx="306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흉부 </a:t>
            </a:r>
            <a:r>
              <a:rPr lang="en-US" altLang="ko-KR" dirty="0"/>
              <a:t>X-ray + </a:t>
            </a:r>
            <a:r>
              <a:rPr lang="ko-KR" altLang="en-US" dirty="0"/>
              <a:t>메타데이터 수집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74AA4F-B44A-4DCA-9A13-0FC1EF4A34DD}"/>
              </a:ext>
            </a:extLst>
          </p:cNvPr>
          <p:cNvSpPr txBox="1"/>
          <p:nvPr/>
        </p:nvSpPr>
        <p:spPr>
          <a:xfrm>
            <a:off x="1458790" y="2012547"/>
            <a:ext cx="2834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이미지</a:t>
            </a:r>
            <a:r>
              <a:rPr lang="en-US" altLang="ko-KR" dirty="0"/>
              <a:t>·</a:t>
            </a:r>
            <a:r>
              <a:rPr lang="ko-KR" altLang="en-US" dirty="0"/>
              <a:t>메타데이터 </a:t>
            </a:r>
            <a:r>
              <a:rPr lang="ko-KR" altLang="en-US" dirty="0" err="1"/>
              <a:t>전처리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1CAAA-3FA7-08A1-4946-5B8AA2F80928}"/>
              </a:ext>
            </a:extLst>
          </p:cNvPr>
          <p:cNvSpPr txBox="1"/>
          <p:nvPr/>
        </p:nvSpPr>
        <p:spPr>
          <a:xfrm>
            <a:off x="1197500" y="3174743"/>
            <a:ext cx="3357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CNN </a:t>
            </a:r>
            <a:r>
              <a:rPr lang="ko-KR" altLang="en-US" dirty="0"/>
              <a:t>백본으로 이미지 특징 추출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E5E10F-F148-CA26-60D3-AC7075F17DAC}"/>
              </a:ext>
            </a:extLst>
          </p:cNvPr>
          <p:cNvSpPr txBox="1"/>
          <p:nvPr/>
        </p:nvSpPr>
        <p:spPr>
          <a:xfrm>
            <a:off x="1684813" y="3957138"/>
            <a:ext cx="2420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메타데이터 </a:t>
            </a:r>
            <a:r>
              <a:rPr lang="ko-KR" altLang="en-US" dirty="0" err="1"/>
              <a:t>임베딩</a:t>
            </a:r>
            <a:r>
              <a:rPr lang="ko-KR" altLang="en-US" dirty="0"/>
              <a:t> 후 </a:t>
            </a:r>
            <a:endParaRPr lang="en-US" altLang="ko-KR" dirty="0"/>
          </a:p>
          <a:p>
            <a:pPr algn="ctr"/>
            <a:r>
              <a:rPr lang="ko-KR" altLang="en-US" dirty="0"/>
              <a:t>이미지 특징과 결합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1BF81E-FDAB-C295-8380-DB2E0FD154D4}"/>
              </a:ext>
            </a:extLst>
          </p:cNvPr>
          <p:cNvSpPr txBox="1"/>
          <p:nvPr/>
        </p:nvSpPr>
        <p:spPr>
          <a:xfrm>
            <a:off x="865685" y="5977999"/>
            <a:ext cx="402065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700" dirty="0">
                <a:solidFill>
                  <a:schemeClr val="bg1"/>
                </a:solidFill>
                <a:latin typeface="+mj-ea"/>
                <a:ea typeface="+mj-ea"/>
              </a:rPr>
              <a:t>적용 모델 기반 이상 점수 및 </a:t>
            </a:r>
            <a:r>
              <a:rPr lang="ko-KR" altLang="en-US" sz="1700" dirty="0" err="1">
                <a:solidFill>
                  <a:schemeClr val="bg1"/>
                </a:solidFill>
                <a:latin typeface="+mj-ea"/>
                <a:ea typeface="+mj-ea"/>
              </a:rPr>
              <a:t>히트맵</a:t>
            </a:r>
            <a:r>
              <a:rPr lang="ko-KR" altLang="en-US" sz="1700" dirty="0">
                <a:solidFill>
                  <a:schemeClr val="bg1"/>
                </a:solidFill>
                <a:latin typeface="+mj-ea"/>
                <a:ea typeface="+mj-ea"/>
              </a:rPr>
              <a:t> 산출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AAAD5C1-D3C6-F9BB-1FE3-1E1435D8FD4F}"/>
              </a:ext>
            </a:extLst>
          </p:cNvPr>
          <p:cNvSpPr/>
          <p:nvPr/>
        </p:nvSpPr>
        <p:spPr>
          <a:xfrm>
            <a:off x="0" y="0"/>
            <a:ext cx="724829" cy="7631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6B5BD7E-1A89-909C-4DC0-AEC88CA5D6BC}"/>
              </a:ext>
            </a:extLst>
          </p:cNvPr>
          <p:cNvSpPr/>
          <p:nvPr/>
        </p:nvSpPr>
        <p:spPr>
          <a:xfrm>
            <a:off x="1227183" y="4792592"/>
            <a:ext cx="3297645" cy="592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0C76F1-96CF-7B99-DFE7-8B377BBFB18D}"/>
              </a:ext>
            </a:extLst>
          </p:cNvPr>
          <p:cNvSpPr txBox="1"/>
          <p:nvPr/>
        </p:nvSpPr>
        <p:spPr>
          <a:xfrm>
            <a:off x="1526549" y="4792592"/>
            <a:ext cx="2840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정상 데이터 기반 </a:t>
            </a:r>
            <a:r>
              <a:rPr lang="en-US" altLang="ko-KR" dirty="0"/>
              <a:t>Feature Bank </a:t>
            </a:r>
            <a:r>
              <a:rPr lang="ko-KR" altLang="en-US" dirty="0"/>
              <a:t>구성</a:t>
            </a:r>
            <a:r>
              <a:rPr lang="en-US" altLang="ko-KR" dirty="0"/>
              <a:t>(</a:t>
            </a:r>
            <a:r>
              <a:rPr lang="ko-KR" altLang="en-US" dirty="0"/>
              <a:t>학습</a:t>
            </a:r>
            <a:r>
              <a:rPr lang="en-US" altLang="ko-KR" dirty="0"/>
              <a:t>)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F3538D3-0442-BA06-BFDC-4E98D26D0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27730"/>
              </p:ext>
            </p:extLst>
          </p:nvPr>
        </p:nvGraphicFramePr>
        <p:xfrm>
          <a:off x="5238387" y="923013"/>
          <a:ext cx="6818786" cy="5766583"/>
        </p:xfrm>
        <a:graphic>
          <a:graphicData uri="http://schemas.openxmlformats.org/drawingml/2006/table">
            <a:tbl>
              <a:tblPr/>
              <a:tblGrid>
                <a:gridCol w="3409393">
                  <a:extLst>
                    <a:ext uri="{9D8B030D-6E8A-4147-A177-3AD203B41FA5}">
                      <a16:colId xmlns:a16="http://schemas.microsoft.com/office/drawing/2014/main" val="4103720585"/>
                    </a:ext>
                  </a:extLst>
                </a:gridCol>
                <a:gridCol w="3409393">
                  <a:extLst>
                    <a:ext uri="{9D8B030D-6E8A-4147-A177-3AD203B41FA5}">
                      <a16:colId xmlns:a16="http://schemas.microsoft.com/office/drawing/2014/main" val="2678562203"/>
                    </a:ext>
                  </a:extLst>
                </a:gridCol>
              </a:tblGrid>
              <a:tr h="473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항목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적용 전략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088010"/>
                  </a:ext>
                </a:extLst>
              </a:tr>
              <a:tr h="554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Training Data</a:t>
                      </a:r>
                      <a:endParaRPr lang="en-US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NIH ChestX-ray14</a:t>
                      </a:r>
                      <a:r>
                        <a:rPr lang="ko-KR" altLang="en-US" sz="1600"/>
                        <a:t>의 “</a:t>
                      </a:r>
                      <a:r>
                        <a:rPr lang="en-US" sz="1600"/>
                        <a:t>No Finding(</a:t>
                      </a:r>
                      <a:r>
                        <a:rPr lang="ko-KR" altLang="en-US" sz="1600"/>
                        <a:t>정상</a:t>
                      </a:r>
                      <a:r>
                        <a:rPr lang="en-US" altLang="ko-KR" sz="1600"/>
                        <a:t>)”</a:t>
                      </a:r>
                      <a:r>
                        <a:rPr lang="ko-KR" altLang="en-US" sz="1600"/>
                        <a:t>만 사용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685414"/>
                  </a:ext>
                </a:extLst>
              </a:tr>
              <a:tr h="554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Test Data</a:t>
                      </a:r>
                      <a:endParaRPr lang="en-US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정상 </a:t>
                      </a:r>
                      <a:r>
                        <a:rPr lang="en-US" altLang="ko-KR" sz="1600"/>
                        <a:t>+ </a:t>
                      </a:r>
                      <a:r>
                        <a:rPr lang="ko-KR" altLang="en-US" sz="1600"/>
                        <a:t>질환</a:t>
                      </a:r>
                      <a:r>
                        <a:rPr lang="en-US" altLang="ko-KR" sz="1600"/>
                        <a:t>(</a:t>
                      </a:r>
                      <a:r>
                        <a:rPr lang="en-US" sz="1600"/>
                        <a:t>Nodule, Effusion, Mass, Pneumonia </a:t>
                      </a:r>
                      <a:r>
                        <a:rPr lang="ko-KR" altLang="en-US" sz="1600"/>
                        <a:t>등</a:t>
                      </a:r>
                      <a:r>
                        <a:rPr lang="en-US" altLang="ko-KR" sz="1600"/>
                        <a:t>)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096654"/>
                  </a:ext>
                </a:extLst>
              </a:tr>
              <a:tr h="554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/>
                        <a:t>비교 모델</a:t>
                      </a:r>
                      <a:endParaRPr lang="ko-KR" altLang="en-US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PatchCore, PaDiM, FastFlow, DRAEM(</a:t>
                      </a:r>
                      <a:r>
                        <a:rPr lang="ko-KR" altLang="en-US" sz="1600"/>
                        <a:t>선택적 추가</a:t>
                      </a:r>
                      <a:r>
                        <a:rPr lang="en-US" altLang="ko-KR" sz="1600"/>
                        <a:t>)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348273"/>
                  </a:ext>
                </a:extLst>
              </a:tr>
              <a:tr h="554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/>
                        <a:t>평가 지표</a:t>
                      </a:r>
                      <a:endParaRPr lang="ko-KR" altLang="en-US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ROC-AUC, PR-AUC, False Positive Rate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444398"/>
                  </a:ext>
                </a:extLst>
              </a:tr>
              <a:tr h="554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/>
                        <a:t>전처리 전략</a:t>
                      </a:r>
                      <a:endParaRPr lang="ko-KR" altLang="en-US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Grayscale → 3</a:t>
                      </a:r>
                      <a:r>
                        <a:rPr lang="ko-KR" altLang="en-US" sz="1600"/>
                        <a:t>채널 변환</a:t>
                      </a:r>
                      <a:r>
                        <a:rPr lang="en-US" altLang="ko-KR" sz="1600"/>
                        <a:t>, </a:t>
                      </a:r>
                      <a:r>
                        <a:rPr lang="en-US" sz="1600"/>
                        <a:t>CLAHE </a:t>
                      </a:r>
                      <a:r>
                        <a:rPr lang="ko-KR" altLang="en-US" sz="1600"/>
                        <a:t>대비 강화</a:t>
                      </a:r>
                      <a:r>
                        <a:rPr lang="en-US" altLang="ko-KR" sz="1600"/>
                        <a:t>, </a:t>
                      </a:r>
                      <a:r>
                        <a:rPr lang="en-US" sz="1600"/>
                        <a:t>Center Crop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447096"/>
                  </a:ext>
                </a:extLst>
              </a:tr>
              <a:tr h="554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Threshold </a:t>
                      </a:r>
                      <a:r>
                        <a:rPr lang="ko-KR" altLang="en-US" sz="1600" b="1"/>
                        <a:t>튜닝</a:t>
                      </a:r>
                      <a:endParaRPr lang="ko-KR" altLang="en-US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Otsu / Percentile / GMM </a:t>
                      </a:r>
                      <a:r>
                        <a:rPr lang="ko-KR" altLang="en-US" sz="1600"/>
                        <a:t>기반 </a:t>
                      </a:r>
                      <a:r>
                        <a:rPr lang="en-US" sz="1600"/>
                        <a:t>adaptive threshold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730110"/>
                  </a:ext>
                </a:extLst>
              </a:tr>
              <a:tr h="739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/>
                        <a:t>커스터마이징 요소</a:t>
                      </a:r>
                      <a:endParaRPr lang="ko-KR" altLang="en-US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/>
                        <a:t>백본 교체</a:t>
                      </a:r>
                      <a:r>
                        <a:rPr lang="en-US" altLang="ko-KR" sz="1600"/>
                        <a:t>(</a:t>
                      </a:r>
                      <a:r>
                        <a:rPr lang="en-US" sz="1600"/>
                        <a:t>ResNet → EfficientNet), patch size, stride, flow depth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094799"/>
                  </a:ext>
                </a:extLst>
              </a:tr>
              <a:tr h="554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Heatmap </a:t>
                      </a:r>
                      <a:r>
                        <a:rPr lang="ko-KR" altLang="en-US" sz="1600" b="1"/>
                        <a:t>시각화</a:t>
                      </a:r>
                      <a:endParaRPr lang="ko-KR" altLang="en-US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PatchCore·PaDiM·DRAEM</a:t>
                      </a:r>
                      <a:r>
                        <a:rPr lang="ko-KR" altLang="en-US" sz="1600"/>
                        <a:t>에서 </a:t>
                      </a:r>
                      <a:r>
                        <a:rPr lang="en-US" sz="1600"/>
                        <a:t>anomaly localization </a:t>
                      </a:r>
                      <a:r>
                        <a:rPr lang="ko-KR" altLang="en-US" sz="1600"/>
                        <a:t>가능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874031"/>
                  </a:ext>
                </a:extLst>
              </a:tr>
              <a:tr h="554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/>
                        <a:t>최종 모델 선정 기준</a:t>
                      </a:r>
                      <a:endParaRPr lang="ko-KR" altLang="en-US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작은 결절 성능 </a:t>
                      </a:r>
                      <a:r>
                        <a:rPr lang="en-US" altLang="ko-KR" sz="1600" dirty="0"/>
                        <a:t>+ </a:t>
                      </a:r>
                      <a:r>
                        <a:rPr lang="ko-KR" altLang="en-US" sz="1600" dirty="0"/>
                        <a:t>전체 </a:t>
                      </a:r>
                      <a:r>
                        <a:rPr lang="en-US" altLang="ko-KR" sz="1600" dirty="0"/>
                        <a:t>ROC-AUC + FPR </a:t>
                      </a:r>
                      <a:r>
                        <a:rPr lang="ko-KR" altLang="en-US" sz="1600" dirty="0"/>
                        <a:t>조합으로 결정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793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630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Deep Learning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2FC1"/>
      </a:accent1>
      <a:accent2>
        <a:srgbClr val="3975C0"/>
      </a:accent2>
      <a:accent3>
        <a:srgbClr val="ABC7D7"/>
      </a:accent3>
      <a:accent4>
        <a:srgbClr val="DFDFDF"/>
      </a:accent4>
      <a:accent5>
        <a:srgbClr val="DADFF2"/>
      </a:accent5>
      <a:accent6>
        <a:srgbClr val="D2A5EA"/>
      </a:accent6>
      <a:hlink>
        <a:srgbClr val="262626"/>
      </a:hlink>
      <a:folHlink>
        <a:srgbClr val="262626"/>
      </a:folHlink>
    </a:clrScheme>
    <a:fontScheme name="Pretendard Black_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329</Words>
  <Application>Microsoft Office PowerPoint</Application>
  <PresentationFormat>와이드스크린</PresentationFormat>
  <Paragraphs>59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Pretendard</vt:lpstr>
      <vt:lpstr>Pretendard Black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kyeongjoon lee</cp:lastModifiedBy>
  <cp:revision>51</cp:revision>
  <dcterms:created xsi:type="dcterms:W3CDTF">2022-12-09T01:31:23Z</dcterms:created>
  <dcterms:modified xsi:type="dcterms:W3CDTF">2025-11-30T09:38:26Z</dcterms:modified>
</cp:coreProperties>
</file>